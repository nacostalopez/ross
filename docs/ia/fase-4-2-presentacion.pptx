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diseño de la etapa 4.2. Está en borrador: se confirma antes de escribir código, igual que se hizo con la 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mínimo de 20 muestras y la ventana de 30 días son hipótesis de partida, igual que los pesos del puntaje de selección de la 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fondo 1"/>
          <p:cNvSpPr/>
          <p:nvPr/>
        </p:nvSpPr>
        <p:spPr>
          <a:xfrm>
            <a:off x="8412480" y="822960"/>
            <a:ext cx="4206240" cy="4206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Forma fondo 2"/>
          <p:cNvSpPr/>
          <p:nvPr/>
        </p:nvSpPr>
        <p:spPr>
          <a:xfrm>
            <a:off x="9692640" y="3291840"/>
            <a:ext cx="2926080" cy="292608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ETAPA 4.2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Eventos, scoring y trazas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Darle memoria al asistente de ROSS: qué se pidió, cómo se resolvió y qué tan útil resultó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 confirmar · sin código escrito todavía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Es lo único que no se puede recuperar después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etapa 4.1 dejó nueve herramientas de solo lectura, un registro y una política. Falta que el asistente recuerde lo que pasa con ellas: la independencia del modelo (4.6) se alimenta de lo registrado desde el primer día.</a:t>
            </a:r>
            <a:endParaRPr lang="en-US" sz="1600" dirty="0"/>
          </a:p>
        </p:txBody>
      </p:sp>
      <p:sp>
        <p:nvSpPr>
          <p:cNvPr id="4" name="Tarjeta Se ejecutó"/>
          <p:cNvSpPr/>
          <p:nvPr/>
        </p:nvSpPr>
        <p:spPr>
          <a:xfrm>
            <a:off x="548640" y="246888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Circulo 1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ejecutó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60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traza por cada ejecución de una herramienta: cuál, con qué resultado y en cuánto tiempo.</a:t>
            </a:r>
            <a:endParaRPr lang="en-US" sz="1600" dirty="0"/>
          </a:p>
        </p:txBody>
      </p:sp>
      <p:sp>
        <p:nvSpPr>
          <p:cNvPr id="9" name="Tarjeta Sirvió"/>
          <p:cNvSpPr/>
          <p:nvPr/>
        </p:nvSpPr>
        <p:spPr>
          <a:xfrm>
            <a:off x="4297680" y="246888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0" name="Circulo 2"/>
          <p:cNvSpPr/>
          <p:nvPr/>
        </p:nvSpPr>
        <p:spPr>
          <a:xfrm>
            <a:off x="4617720" y="2743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Sirvió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160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evento por lo que la persona hace con el resultado: útil, no útil, descartó.</a:t>
            </a:r>
            <a:endParaRPr lang="en-US" sz="1600" dirty="0"/>
          </a:p>
        </p:txBody>
      </p:sp>
      <p:sp>
        <p:nvSpPr>
          <p:cNvPr id="14" name="Tarjeta Se aprende"/>
          <p:cNvSpPr/>
          <p:nvPr/>
        </p:nvSpPr>
        <p:spPr>
          <a:xfrm>
            <a:off x="8046720" y="246888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5" name="Circulo 3"/>
          <p:cNvSpPr/>
          <p:nvPr/>
        </p:nvSpPr>
        <p:spPr>
          <a:xfrm>
            <a:off x="8366760" y="27432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aprende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160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de utilidad por herramienta, calculado desde los eventos, que alimenta a la 4.3 y la 4.6.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Qué entra y qué queda para después</a:t>
            </a:r>
            <a:endParaRPr lang="en-US" dirty="0"/>
          </a:p>
        </p:txBody>
      </p:sp>
      <p:sp>
        <p:nvSpPr>
          <p:cNvPr id="3" name="Tarjeta dentro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Tarjeta fuera"/>
          <p:cNvSpPr/>
          <p:nvPr/>
        </p:nvSpPr>
        <p:spPr>
          <a:xfrm>
            <a:off x="617220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de la 4.2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trazas: una fila por ejecución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eventos: lo que la persona hace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utilidad por herramienta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desde run_tool, también las denegaciones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señal real: la narrativa semanal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180 días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(etapa)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de intenciones y pantalla del asistente (4.3)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selección con sus tres comportamientos (4.3)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de utilidad en la pantalla (4.3)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Promoción de patrones a L1 (4.6)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del CRM (4.4 y 4.7)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Cómo viaja una consulta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ocurre en un solo lugar, dentro de run_tool. Ninguna herramienta registra por su cuenta.</a:t>
            </a:r>
            <a:endParaRPr lang="en-US" sz="1600" dirty="0"/>
          </a:p>
        </p:txBody>
      </p:sp>
      <p:sp>
        <p:nvSpPr>
          <p:cNvPr id="4" name="Paso Pedido"/>
          <p:cNvSpPr/>
          <p:nvPr/>
        </p:nvSpPr>
        <p:spPr>
          <a:xfrm>
            <a:off x="548640" y="2560320"/>
            <a:ext cx="1691640" cy="20116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834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74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persona, en su sesión</a:t>
            </a:r>
            <a:endParaRPr lang="en-US" sz="1400" dirty="0"/>
          </a:p>
        </p:txBody>
      </p:sp>
      <p:sp>
        <p:nvSpPr>
          <p:cNvPr id="7" name="Flecha 0"/>
          <p:cNvSpPr/>
          <p:nvPr/>
        </p:nvSpPr>
        <p:spPr>
          <a:xfrm>
            <a:off x="2258568" y="3474720"/>
            <a:ext cx="146304" cy="182880"/>
          </a:xfrm>
          <a:prstGeom prst="rtTriangle">
            <a:avLst/>
          </a:prstGeom>
          <a:solidFill>
            <a:schemeClr val="accent4"/>
          </a:solidFill>
          <a:ln/>
        </p:spPr>
      </p:sp>
      <p:sp>
        <p:nvSpPr>
          <p:cNvPr id="8" name="Paso Política"/>
          <p:cNvSpPr/>
          <p:nvPr/>
        </p:nvSpPr>
        <p:spPr>
          <a:xfrm>
            <a:off x="2423160" y="2560320"/>
            <a:ext cx="1691640" cy="20116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60320" y="2834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474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plan y módulo</a:t>
            </a:r>
            <a:endParaRPr lang="en-US" sz="1400" dirty="0"/>
          </a:p>
        </p:txBody>
      </p:sp>
      <p:sp>
        <p:nvSpPr>
          <p:cNvPr id="11" name="Flecha 1"/>
          <p:cNvSpPr/>
          <p:nvPr/>
        </p:nvSpPr>
        <p:spPr>
          <a:xfrm>
            <a:off x="4133088" y="3474720"/>
            <a:ext cx="146304" cy="182880"/>
          </a:xfrm>
          <a:prstGeom prst="rtTriangle">
            <a:avLst/>
          </a:prstGeom>
          <a:solidFill>
            <a:schemeClr val="accent4"/>
          </a:solidFill>
          <a:ln/>
        </p:spPr>
      </p:sp>
      <p:sp>
        <p:nvSpPr>
          <p:cNvPr id="12" name="Paso Herramienta"/>
          <p:cNvSpPr/>
          <p:nvPr/>
        </p:nvSpPr>
        <p:spPr>
          <a:xfrm>
            <a:off x="4297680" y="2560320"/>
            <a:ext cx="1691640" cy="20116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34840" y="2834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474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arma el resultado</a:t>
            </a:r>
            <a:endParaRPr lang="en-US" sz="1400" dirty="0"/>
          </a:p>
        </p:txBody>
      </p:sp>
      <p:sp>
        <p:nvSpPr>
          <p:cNvPr id="15" name="Flecha 2"/>
          <p:cNvSpPr/>
          <p:nvPr/>
        </p:nvSpPr>
        <p:spPr>
          <a:xfrm>
            <a:off x="6007608" y="3474720"/>
            <a:ext cx="146304" cy="182880"/>
          </a:xfrm>
          <a:prstGeom prst="rtTriangle">
            <a:avLst/>
          </a:prstGeom>
          <a:solidFill>
            <a:schemeClr val="accent4"/>
          </a:solidFill>
          <a:ln/>
        </p:spPr>
      </p:sp>
      <p:sp>
        <p:nvSpPr>
          <p:cNvPr id="16" name="Paso Traza"/>
          <p:cNvSpPr/>
          <p:nvPr/>
        </p:nvSpPr>
        <p:spPr>
          <a:xfrm>
            <a:off x="6172200" y="2560320"/>
            <a:ext cx="1691640" cy="201168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0" y="2834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474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la estructura</a:t>
            </a:r>
            <a:endParaRPr lang="en-US" sz="1400" dirty="0"/>
          </a:p>
        </p:txBody>
      </p:sp>
      <p:sp>
        <p:nvSpPr>
          <p:cNvPr id="19" name="Flecha 3"/>
          <p:cNvSpPr/>
          <p:nvPr/>
        </p:nvSpPr>
        <p:spPr>
          <a:xfrm>
            <a:off x="7882128" y="3474720"/>
            <a:ext cx="146304" cy="182880"/>
          </a:xfrm>
          <a:prstGeom prst="rtTriangle">
            <a:avLst/>
          </a:prstGeom>
          <a:solidFill>
            <a:schemeClr val="accent4"/>
          </a:solidFill>
          <a:ln/>
        </p:spPr>
      </p:sp>
      <p:sp>
        <p:nvSpPr>
          <p:cNvPr id="20" name="Paso Evento"/>
          <p:cNvSpPr/>
          <p:nvPr/>
        </p:nvSpPr>
        <p:spPr>
          <a:xfrm>
            <a:off x="8046720" y="2560320"/>
            <a:ext cx="1691640" cy="201168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83880" y="2834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3474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Útil, no útil, descartó</a:t>
            </a:r>
            <a:endParaRPr lang="en-US" sz="1400" dirty="0"/>
          </a:p>
        </p:txBody>
      </p:sp>
      <p:sp>
        <p:nvSpPr>
          <p:cNvPr id="23" name="Flecha 4"/>
          <p:cNvSpPr/>
          <p:nvPr/>
        </p:nvSpPr>
        <p:spPr>
          <a:xfrm>
            <a:off x="9756648" y="3474720"/>
            <a:ext cx="146304" cy="182880"/>
          </a:xfrm>
          <a:prstGeom prst="rtTriangle">
            <a:avLst/>
          </a:prstGeom>
          <a:solidFill>
            <a:schemeClr val="accent4"/>
          </a:solidFill>
          <a:ln/>
        </p:spPr>
      </p:sp>
      <p:sp>
        <p:nvSpPr>
          <p:cNvPr id="24" name="Paso Score"/>
          <p:cNvSpPr/>
          <p:nvPr/>
        </p:nvSpPr>
        <p:spPr>
          <a:xfrm>
            <a:off x="9921240" y="2560320"/>
            <a:ext cx="1691640" cy="20116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0" y="2834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3474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recalcula sobre 30 días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registro falla, se ignora y se deja un log: registrar nunca rompe ni demora una respuesta.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Resaltado: lo que agrega esta etapa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Qué guarda una traza y qué nunca</a:t>
            </a:r>
            <a:endParaRPr lang="en-US" dirty="0"/>
          </a:p>
        </p:txBody>
      </p:sp>
      <p:sp>
        <p:nvSpPr>
          <p:cNvPr id="3" name="Tarjeta guarda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Tarjeta nunca"/>
          <p:cNvSpPr/>
          <p:nvPr/>
        </p:nvSpPr>
        <p:spPr>
          <a:xfrm>
            <a:off x="617220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 se guarda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y tienda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Herramienta, escalón (L0) y proveedor (plantilla)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ok o la razón de la denegación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validador de cifras rechazó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acotados, como days: 14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en ms, rol y fecha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se guarda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ni montos de la cuenta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parámetros fuera de la lista acotada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del usuario: no existe hasta la 4.3 y, cuando exista, irá normalizada y sin valores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El score de utilidad: sin datos antes que un número engañoso</a:t>
            </a:r>
            <a:endParaRPr lang="en-US" dirty="0"/>
          </a:p>
        </p:txBody>
      </p:sp>
      <p:sp>
        <p:nvSpPr>
          <p:cNvPr id="3" name="Dato 30"/>
          <p:cNvSpPr/>
          <p:nvPr/>
        </p:nvSpPr>
        <p:spPr>
          <a:xfrm>
            <a:off x="548640" y="155448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móvil del score</a:t>
            </a:r>
            <a:endParaRPr lang="en-US" sz="1600" dirty="0"/>
          </a:p>
        </p:txBody>
      </p:sp>
      <p:sp>
        <p:nvSpPr>
          <p:cNvPr id="7" name="Dato 20"/>
          <p:cNvSpPr/>
          <p:nvPr/>
        </p:nvSpPr>
        <p:spPr>
          <a:xfrm>
            <a:off x="4297680" y="155448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691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para mostrar un número</a:t>
            </a:r>
            <a:endParaRPr lang="en-US" sz="1600" dirty="0"/>
          </a:p>
        </p:txBody>
      </p:sp>
      <p:sp>
        <p:nvSpPr>
          <p:cNvPr id="11" name="Dato 180"/>
          <p:cNvSpPr/>
          <p:nvPr/>
        </p:nvSpPr>
        <p:spPr>
          <a:xfrm>
            <a:off x="8046720" y="155448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66760" y="1691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vencen trazas y eventos</a:t>
            </a:r>
            <a:endParaRPr lang="en-US" sz="1600" dirty="0"/>
          </a:p>
        </p:txBody>
      </p:sp>
      <p:sp>
        <p:nvSpPr>
          <p:cNvPr id="15" name="Tarjeta formula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Fórmula, por herramienta y escalón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00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útiles ÷ (útiles + no útiles)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 se guarda la tasa de rechazo del validador: es el segundo insumo de la "confianza de la herramienta" en la 4.3.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Privacidad y aislamiento desde el diseño</a:t>
            </a:r>
            <a:endParaRPr lang="en-US" dirty="0"/>
          </a:p>
        </p:txBody>
      </p:sp>
      <p:sp>
        <p:nvSpPr>
          <p:cNvPr id="3" name="Tarjeta Aislamiento"/>
          <p:cNvSpPr/>
          <p:nvPr/>
        </p:nvSpPr>
        <p:spPr>
          <a:xfrm>
            <a:off x="548640" y="146304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Circulo 1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Aislamiento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fila lleva account_id y las lecturas pasan por la cuenta de la sesión. Entra al test de aislamiento de la 4.1.</a:t>
            </a:r>
            <a:endParaRPr lang="en-US" sz="1400" dirty="0"/>
          </a:p>
        </p:txBody>
      </p:sp>
      <p:sp>
        <p:nvSpPr>
          <p:cNvPr id="8" name="Tarjeta Cuenta demo"/>
          <p:cNvSpPr/>
          <p:nvPr/>
        </p:nvSpPr>
        <p:spPr>
          <a:xfrm>
            <a:off x="4297680" y="146304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9" name="Circulo 2"/>
          <p:cNvSpPr/>
          <p:nvPr/>
        </p:nvSpPr>
        <p:spPr>
          <a:xfrm>
            <a:off x="4572000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 demo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23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escribe trazas ni eventos ni puntúa, para no contaminar el score con visitas.</a:t>
            </a:r>
            <a:endParaRPr lang="en-US" sz="1400" dirty="0"/>
          </a:p>
        </p:txBody>
      </p:sp>
      <p:sp>
        <p:nvSpPr>
          <p:cNvPr id="13" name="Tarjeta Borrado de cuenta"/>
          <p:cNvSpPr/>
          <p:nvPr/>
        </p:nvSpPr>
        <p:spPr>
          <a:xfrm>
            <a:off x="8046720" y="146304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4" name="Circulo 3"/>
          <p:cNvSpPr/>
          <p:nvPr/>
        </p:nvSpPr>
        <p:spPr>
          <a:xfrm>
            <a:off x="8321040" y="17373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Borrado de cuenta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23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tablas se borran con la cuenta y entran en la exportación de Privacidad y mis datos.</a:t>
            </a:r>
            <a:endParaRPr lang="en-US" sz="1400" dirty="0"/>
          </a:p>
        </p:txBody>
      </p:sp>
      <p:sp>
        <p:nvSpPr>
          <p:cNvPr id="18" name="Tarjeta Retención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9" name="Circulo 4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Retención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 periódica borra trazas y eventos de más de 180 días.</a:t>
            </a:r>
            <a:endParaRPr lang="en-US" sz="1400" dirty="0"/>
          </a:p>
        </p:txBody>
      </p:sp>
      <p:sp>
        <p:nvSpPr>
          <p:cNvPr id="23" name="Tarjeta Eventos propios"/>
          <p:cNvSpPr/>
          <p:nvPr/>
        </p:nvSpPr>
        <p:spPr>
          <a:xfrm>
            <a:off x="4297680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24" name="Circulo 5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propios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92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solo puede puntuar trazas de su cuenta. Un evento por persona y traza.</a:t>
            </a:r>
            <a:endParaRPr lang="en-US" sz="1400" dirty="0"/>
          </a:p>
        </p:txBody>
      </p:sp>
      <p:sp>
        <p:nvSpPr>
          <p:cNvPr id="28" name="Tarjeta Guardián"/>
          <p:cNvSpPr/>
          <p:nvPr/>
        </p:nvSpPr>
        <p:spPr>
          <a:xfrm>
            <a:off x="8046720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29" name="Circulo 6"/>
          <p:cNvSpPr/>
          <p:nvPr/>
        </p:nvSpPr>
        <p:spPr>
          <a:xfrm>
            <a:off x="8321040" y="42062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Guardián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892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recorre el registro y falla si una traza guarda un valor fuera de la lista acotada.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Ocho pasos, cada uno con su verificación</a:t>
            </a:r>
            <a:endParaRPr lang="en-US" dirty="0"/>
          </a:p>
        </p:txBody>
      </p:sp>
      <p:sp>
        <p:nvSpPr>
          <p:cNvPr id="3" name="Paso 1"/>
          <p:cNvSpPr/>
          <p:nvPr/>
        </p:nvSpPr>
        <p:spPr>
          <a:xfrm>
            <a:off x="548640" y="146304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Circulo 1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00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036 y modelos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borrado de cuenta y exportación</a:t>
            </a:r>
            <a:endParaRPr lang="en-US" sz="1400" dirty="0"/>
          </a:p>
        </p:txBody>
      </p:sp>
      <p:sp>
        <p:nvSpPr>
          <p:cNvPr id="8" name="Paso 2"/>
          <p:cNvSpPr/>
          <p:nvPr/>
        </p:nvSpPr>
        <p:spPr>
          <a:xfrm>
            <a:off x="6172200" y="146304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9" name="Circulo 2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600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trazas y score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Unitarios, incluido el mínimo de muestras</a:t>
            </a:r>
            <a:endParaRPr lang="en-US" sz="1400" dirty="0"/>
          </a:p>
        </p:txBody>
      </p:sp>
      <p:sp>
        <p:nvSpPr>
          <p:cNvPr id="13" name="Paso 3"/>
          <p:cNvSpPr/>
          <p:nvPr/>
        </p:nvSpPr>
        <p:spPr>
          <a:xfrm>
            <a:off x="548640" y="265176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4" name="Circulo 3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run_tool registra cada ejecución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traza por llamada; el demo no registra</a:t>
            </a:r>
            <a:endParaRPr lang="en-US" sz="1400" dirty="0"/>
          </a:p>
        </p:txBody>
      </p:sp>
      <p:sp>
        <p:nvSpPr>
          <p:cNvPr id="18" name="Paso 4"/>
          <p:cNvSpPr/>
          <p:nvPr/>
        </p:nvSpPr>
        <p:spPr>
          <a:xfrm>
            <a:off x="6172200" y="265176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19" name="Circulo 4"/>
          <p:cNvSpPr/>
          <p:nvPr/>
        </p:nvSpPr>
        <p:spPr>
          <a:xfrm>
            <a:off x="640080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Guardián de valores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sobre todo el registro</a:t>
            </a:r>
            <a:endParaRPr lang="en-US" sz="1400" dirty="0"/>
          </a:p>
        </p:txBody>
      </p:sp>
      <p:sp>
        <p:nvSpPr>
          <p:cNvPr id="23" name="Paso 5"/>
          <p:cNvSpPr/>
          <p:nvPr/>
        </p:nvSpPr>
        <p:spPr>
          <a:xfrm>
            <a:off x="548640" y="38404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24" name="Circulo 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3977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 de evento y de score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434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entre cuentas y por rol</a:t>
            </a:r>
            <a:endParaRPr lang="en-US" sz="1400" dirty="0"/>
          </a:p>
        </p:txBody>
      </p:sp>
      <p:sp>
        <p:nvSpPr>
          <p:cNvPr id="28" name="Paso 6"/>
          <p:cNvSpPr/>
          <p:nvPr/>
        </p:nvSpPr>
        <p:spPr>
          <a:xfrm>
            <a:off x="6172200" y="38404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29" name="Circulo 6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977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Narrativa semanal vía run_tool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434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 el escritor de plantilla</a:t>
            </a:r>
            <a:endParaRPr lang="en-US" sz="1400" dirty="0"/>
          </a:p>
        </p:txBody>
      </p:sp>
      <p:sp>
        <p:nvSpPr>
          <p:cNvPr id="33" name="Paso 7"/>
          <p:cNvSpPr/>
          <p:nvPr/>
        </p:nvSpPr>
        <p:spPr>
          <a:xfrm>
            <a:off x="548640" y="502920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34" name="Circulo 7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508760" y="5166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 de retención de 180 días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508760" y="5623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 filas viejas</a:t>
            </a:r>
            <a:endParaRPr lang="en-US" sz="1400" dirty="0"/>
          </a:p>
        </p:txBody>
      </p:sp>
      <p:sp>
        <p:nvSpPr>
          <p:cNvPr id="38" name="Paso 8"/>
          <p:cNvSpPr/>
          <p:nvPr/>
        </p:nvSpPr>
        <p:spPr>
          <a:xfrm>
            <a:off x="6172200" y="502920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sp>
      <p:sp>
        <p:nvSpPr>
          <p:cNvPr id="39" name="Circulo 8"/>
          <p:cNvSpPr/>
          <p:nvPr/>
        </p:nvSpPr>
        <p:spPr>
          <a:xfrm>
            <a:off x="6400800" y="5303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5166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Aislamiento de las tablas nuevas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5623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completa y ruff limpios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Riesgos y cómo se mitigan</a:t>
            </a:r>
            <a:endParaRPr lang="en-US" dirty="0"/>
          </a:p>
        </p:txBody>
      </p:sp>
      <p:graphicFrame>
        <p:nvGraphicFramePr>
          <p:cNvPr id="10" name="Tabla de riesg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093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traza filtra un dato de la cuenta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parámetros acotados, guardián y sin pregunta libre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enlentece las respuestas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Escritura mínima y fallo silencioso; se mide la latencia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engañoso con pocas muestras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de 20 y "sin datos" explícito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trazas crecen sin límite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Retención de 180 días e índice por cuenta y fecha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Puntuar la traza de otra cuenta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traza se busca siempre por la cuenta de la sesión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Para confirmar antes de empezar</a:t>
            </a:r>
            <a:endParaRPr lang="en-US" dirty="0"/>
          </a:p>
        </p:txBody>
      </p:sp>
      <p:sp>
        <p:nvSpPr>
          <p:cNvPr id="3" name="Pregunta 1"/>
          <p:cNvSpPr/>
          <p:nvPr/>
        </p:nvSpPr>
        <p:spPr>
          <a:xfrm>
            <a:off x="548640" y="164592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4" name="Circulo 1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920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¿20 muestras y 30 días sirven como punto de partida?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468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hipótesis, igual que los pesos de la 4.3. Se ajustan con datos reales.</a:t>
            </a:r>
            <a:endParaRPr lang="en-US" sz="1600" dirty="0"/>
          </a:p>
        </p:txBody>
      </p:sp>
      <p:sp>
        <p:nvSpPr>
          <p:cNvPr id="8" name="Pregunta 2"/>
          <p:cNvSpPr/>
          <p:nvPr/>
        </p:nvSpPr>
        <p:spPr>
          <a:xfrm>
            <a:off x="548640" y="338328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9" name="Circulo 2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657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¿Dejamos reservado el evento acted hasta la 4.3?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206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pantalla del asistente no hay acción que observar.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diseño se aprueba, el siguiente paso es la migración 036, los modelos y los ganchos de borrado y exportación.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SS Fase 4">
  <a:themeElements>
    <a:clrScheme name="ROSS Fase 4">
      <a:dk1>
        <a:srgbClr val="1B2A41"/>
      </a:dk1>
      <a:lt1>
        <a:srgbClr val="FFFFFF"/>
      </a:lt1>
      <a:dk2>
        <a:srgbClr val="324A5F"/>
      </a:dk2>
      <a:lt2>
        <a:srgbClr val="EEF2F6"/>
      </a:lt2>
      <a:accent1>
        <a:srgbClr val="0FA3B1"/>
      </a:accent1>
      <a:accent2>
        <a:srgbClr val="F2A541"/>
      </a:accent2>
      <a:accent3>
        <a:srgbClr val="324A5F"/>
      </a:accent3>
      <a:accent4>
        <a:srgbClr val="7A8CA0"/>
      </a:accent4>
      <a:accent5>
        <a:srgbClr val="C8553D"/>
      </a:accent5>
      <a:accent6>
        <a:srgbClr val="5B8E7D"/>
      </a:accent6>
      <a:hlink>
        <a:srgbClr val="0FA3B1"/>
      </a:hlink>
      <a:folHlink>
        <a:srgbClr val="7A8CA0"/>
      </a:folHlink>
    </a:clrScheme>
    <a:fontScheme name="ROSS Fase 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4, etapa 4.2: eventos, scoring y trazas</dc:title>
  <dc:subject>PptxGenJS Presentation</dc:subject>
  <dc:creator>Equipo ROSS</dc:creator>
  <cp:lastModifiedBy>Equipo ROSS</cp:lastModifiedBy>
  <cp:revision>1</cp:revision>
  <dcterms:created xsi:type="dcterms:W3CDTF">2026-10-19T20:11:54Z</dcterms:created>
  <dcterms:modified xsi:type="dcterms:W3CDTF">2026-10-19T20:11:54Z</dcterms:modified>
</cp:coreProperties>
</file>